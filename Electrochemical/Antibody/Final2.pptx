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27432000" cy="3657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22" d="100"/>
          <a:sy n="22" d="100"/>
        </p:scale>
        <p:origin x="2940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5985936"/>
            <a:ext cx="23317200" cy="12733867"/>
          </a:xfrm>
        </p:spPr>
        <p:txBody>
          <a:bodyPr anchor="b"/>
          <a:lstStyle>
            <a:lvl1pPr algn="ctr">
              <a:defRPr sz="1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0" y="19210869"/>
            <a:ext cx="20574000" cy="8830731"/>
          </a:xfrm>
        </p:spPr>
        <p:txBody>
          <a:bodyPr/>
          <a:lstStyle>
            <a:lvl1pPr marL="0" indent="0" algn="ctr">
              <a:buNone/>
              <a:defRPr sz="7200"/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DFC9-A98F-4132-B8E5-EEADB46088D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4E4A-9FA2-4C61-AEA3-DF6FB839B0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2811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DFC9-A98F-4132-B8E5-EEADB46088D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4E4A-9FA2-4C61-AEA3-DF6FB839B0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8801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4" y="9118611"/>
            <a:ext cx="23660100" cy="15214597"/>
          </a:xfrm>
        </p:spPr>
        <p:txBody>
          <a:bodyPr anchor="b"/>
          <a:lstStyle>
            <a:lvl1pPr>
              <a:defRPr sz="1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4" y="24477144"/>
            <a:ext cx="23660100" cy="8000997"/>
          </a:xfrm>
        </p:spPr>
        <p:txBody>
          <a:bodyPr/>
          <a:lstStyle>
            <a:lvl1pPr marL="0" indent="0">
              <a:buNone/>
              <a:defRPr sz="7200">
                <a:solidFill>
                  <a:schemeClr val="tx1"/>
                </a:solidFill>
              </a:defRPr>
            </a:lvl1pPr>
            <a:lvl2pPr marL="1371600" indent="0">
              <a:buNone/>
              <a:defRPr sz="6000">
                <a:solidFill>
                  <a:schemeClr val="tx1">
                    <a:tint val="75000"/>
                  </a:schemeClr>
                </a:solidFill>
              </a:defRPr>
            </a:lvl2pPr>
            <a:lvl3pPr marL="274320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3pPr>
            <a:lvl4pPr marL="411480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4pPr>
            <a:lvl5pPr marL="548640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5pPr>
            <a:lvl6pPr marL="685800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822960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960120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1097280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DFC9-A98F-4132-B8E5-EEADB46088D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4E4A-9FA2-4C61-AEA3-DF6FB839B0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785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0" y="9736667"/>
            <a:ext cx="11658600" cy="23207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0" y="9736667"/>
            <a:ext cx="11658600" cy="23207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DFC9-A98F-4132-B8E5-EEADB46088D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4E4A-9FA2-4C61-AEA3-DF6FB839B0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8630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1947342"/>
            <a:ext cx="23660100" cy="7069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26" y="8966203"/>
            <a:ext cx="11605020" cy="4394197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26" y="13360400"/>
            <a:ext cx="11605020" cy="19651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2" y="8966203"/>
            <a:ext cx="11662173" cy="4394197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2" y="13360400"/>
            <a:ext cx="11662173" cy="19651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DFC9-A98F-4132-B8E5-EEADB46088D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4E4A-9FA2-4C61-AEA3-DF6FB839B0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3126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DFC9-A98F-4132-B8E5-EEADB46088D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4E4A-9FA2-4C61-AEA3-DF6FB839B0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2378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DFC9-A98F-4132-B8E5-EEADB46088D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4E4A-9FA2-4C61-AEA3-DF6FB839B0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142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2438400"/>
            <a:ext cx="8847534" cy="853440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3" y="5266275"/>
            <a:ext cx="13887450" cy="25992667"/>
          </a:xfrm>
        </p:spPr>
        <p:txBody>
          <a:bodyPr/>
          <a:lstStyle>
            <a:lvl1pPr>
              <a:defRPr sz="9600"/>
            </a:lvl1pPr>
            <a:lvl2pPr>
              <a:defRPr sz="8400"/>
            </a:lvl2pPr>
            <a:lvl3pPr>
              <a:defRPr sz="7200"/>
            </a:lvl3pPr>
            <a:lvl4pPr>
              <a:defRPr sz="6000"/>
            </a:lvl4pPr>
            <a:lvl5pPr>
              <a:defRPr sz="6000"/>
            </a:lvl5pPr>
            <a:lvl6pPr>
              <a:defRPr sz="6000"/>
            </a:lvl6pPr>
            <a:lvl7pPr>
              <a:defRPr sz="6000"/>
            </a:lvl7pPr>
            <a:lvl8pPr>
              <a:defRPr sz="6000"/>
            </a:lvl8pPr>
            <a:lvl9pPr>
              <a:defRPr sz="6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10972800"/>
            <a:ext cx="8847534" cy="20328469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DFC9-A98F-4132-B8E5-EEADB46088D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4E4A-9FA2-4C61-AEA3-DF6FB839B0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381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2438400"/>
            <a:ext cx="8847534" cy="853440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3" y="5266275"/>
            <a:ext cx="13887450" cy="25992667"/>
          </a:xfrm>
        </p:spPr>
        <p:txBody>
          <a:bodyPr anchor="t"/>
          <a:lstStyle>
            <a:lvl1pPr marL="0" indent="0">
              <a:buNone/>
              <a:defRPr sz="9600"/>
            </a:lvl1pPr>
            <a:lvl2pPr marL="1371600" indent="0">
              <a:buNone/>
              <a:defRPr sz="8400"/>
            </a:lvl2pPr>
            <a:lvl3pPr marL="2743200" indent="0">
              <a:buNone/>
              <a:defRPr sz="7200"/>
            </a:lvl3pPr>
            <a:lvl4pPr marL="4114800" indent="0">
              <a:buNone/>
              <a:defRPr sz="6000"/>
            </a:lvl4pPr>
            <a:lvl5pPr marL="5486400" indent="0">
              <a:buNone/>
              <a:defRPr sz="6000"/>
            </a:lvl5pPr>
            <a:lvl6pPr marL="6858000" indent="0">
              <a:buNone/>
              <a:defRPr sz="6000"/>
            </a:lvl6pPr>
            <a:lvl7pPr marL="8229600" indent="0">
              <a:buNone/>
              <a:defRPr sz="6000"/>
            </a:lvl7pPr>
            <a:lvl8pPr marL="9601200" indent="0">
              <a:buNone/>
              <a:defRPr sz="6000"/>
            </a:lvl8pPr>
            <a:lvl9pPr marL="10972800" indent="0">
              <a:buNone/>
              <a:defRPr sz="6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10972800"/>
            <a:ext cx="8847534" cy="20328469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DFC9-A98F-4132-B8E5-EEADB46088D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4E4A-9FA2-4C61-AEA3-DF6FB839B0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526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DFC9-A98F-4132-B8E5-EEADB46088D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4E4A-9FA2-4C61-AEA3-DF6FB839B0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960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7" y="1947334"/>
            <a:ext cx="5915025" cy="309964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2" y="1947334"/>
            <a:ext cx="17402175" cy="309964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DFC9-A98F-4132-B8E5-EEADB46088D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4E4A-9FA2-4C61-AEA3-DF6FB839B0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9534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0" y="1947342"/>
            <a:ext cx="23660100" cy="7069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0" y="9736667"/>
            <a:ext cx="23660100" cy="23207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0" y="33900542"/>
            <a:ext cx="6172200" cy="1947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0DFC9-A98F-4132-B8E5-EEADB46088D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0" y="33900542"/>
            <a:ext cx="9258300" cy="1947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0" y="33900542"/>
            <a:ext cx="6172200" cy="1947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A4E4A-9FA2-4C61-AEA3-DF6FB839B0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2837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743200" rtl="0" eaLnBrk="1" latinLnBrk="0" hangingPunct="1">
        <a:lnSpc>
          <a:spcPct val="90000"/>
        </a:lnSpc>
        <a:spcBef>
          <a:spcPct val="0"/>
        </a:spcBef>
        <a:buNone/>
        <a:defRPr sz="1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5AEC9B74-4632-40A2-8EFF-2C7A9AE740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3102702"/>
            <a:ext cx="12503008" cy="12503008"/>
          </a:xfrm>
          <a:prstGeom prst="rect">
            <a:avLst/>
          </a:prstGeom>
        </p:spPr>
      </p:pic>
      <p:pic>
        <p:nvPicPr>
          <p:cNvPr id="7" name="Picture 6" descr="A tennis ball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D7A906A8-16A8-4926-B80A-D0268EC3A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11" y="5269859"/>
            <a:ext cx="12503008" cy="125030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8CA4E5-5500-47B1-8D27-A539834336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3749521"/>
            <a:ext cx="12503008" cy="125030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AD66ED-ACF8-41B3-8DFA-9B19DD6308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60468"/>
            <a:ext cx="12503008" cy="125030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6631DC-7860-417F-B8BD-8F901B7E82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0838" y="8666458"/>
            <a:ext cx="12503008" cy="125030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F849695-CFC0-46AE-9F38-654B241A00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5698" y="-443212"/>
            <a:ext cx="9583530" cy="9583530"/>
          </a:xfrm>
          <a:prstGeom prst="rect">
            <a:avLst/>
          </a:prstGeom>
        </p:spPr>
      </p:pic>
      <p:pic>
        <p:nvPicPr>
          <p:cNvPr id="16" name="Picture 15" descr="Icon&#10;&#10;Description automatically generated">
            <a:extLst>
              <a:ext uri="{FF2B5EF4-FFF2-40B4-BE49-F238E27FC236}">
                <a16:creationId xmlns:a16="http://schemas.microsoft.com/office/drawing/2014/main" id="{9D92CF22-5F3F-47C8-8D6E-37C02D1C8F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7115" y="1745171"/>
            <a:ext cx="7342090" cy="7342090"/>
          </a:xfrm>
          <a:prstGeom prst="rect">
            <a:avLst/>
          </a:prstGeom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6CA838A9-C5A8-47FB-9215-A0091A97E490}"/>
              </a:ext>
            </a:extLst>
          </p:cNvPr>
          <p:cNvSpPr/>
          <p:nvPr/>
        </p:nvSpPr>
        <p:spPr>
          <a:xfrm>
            <a:off x="4625878" y="8845426"/>
            <a:ext cx="1773602" cy="1685633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9CB238A-9E03-4FEB-A506-690F3D56E872}"/>
              </a:ext>
            </a:extLst>
          </p:cNvPr>
          <p:cNvSpPr/>
          <p:nvPr/>
        </p:nvSpPr>
        <p:spPr>
          <a:xfrm>
            <a:off x="4529843" y="17143101"/>
            <a:ext cx="1773602" cy="1685633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1238A07A-8B1D-4205-9C49-DA9D719C4010}"/>
              </a:ext>
            </a:extLst>
          </p:cNvPr>
          <p:cNvSpPr/>
          <p:nvPr/>
        </p:nvSpPr>
        <p:spPr>
          <a:xfrm>
            <a:off x="4529843" y="25587510"/>
            <a:ext cx="1773602" cy="1685633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2" name="Plus Sign 21">
            <a:extLst>
              <a:ext uri="{FF2B5EF4-FFF2-40B4-BE49-F238E27FC236}">
                <a16:creationId xmlns:a16="http://schemas.microsoft.com/office/drawing/2014/main" id="{0A6F1185-9E2B-4394-AF7F-B2BB4F0E969D}"/>
              </a:ext>
            </a:extLst>
          </p:cNvPr>
          <p:cNvSpPr/>
          <p:nvPr/>
        </p:nvSpPr>
        <p:spPr>
          <a:xfrm>
            <a:off x="21399057" y="4741001"/>
            <a:ext cx="1819858" cy="1832674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5D8DA6-D6E1-4A9D-BB10-333BC1A02F27}"/>
              </a:ext>
            </a:extLst>
          </p:cNvPr>
          <p:cNvSpPr txBox="1"/>
          <p:nvPr/>
        </p:nvSpPr>
        <p:spPr>
          <a:xfrm>
            <a:off x="9222349" y="1172292"/>
            <a:ext cx="44554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Electrode</a:t>
            </a:r>
            <a:endParaRPr lang="en-AU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7494CD-6972-4F58-AA40-A9791829E717}"/>
              </a:ext>
            </a:extLst>
          </p:cNvPr>
          <p:cNvSpPr txBox="1"/>
          <p:nvPr/>
        </p:nvSpPr>
        <p:spPr>
          <a:xfrm>
            <a:off x="7333122" y="8869807"/>
            <a:ext cx="80247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err="1">
                <a:latin typeface="Arial" panose="020B0604020202020204" pitchFamily="34" charset="0"/>
                <a:cs typeface="Arial" panose="020B0604020202020204" pitchFamily="34" charset="0"/>
              </a:rPr>
              <a:t>Functionalisation</a:t>
            </a:r>
            <a:endParaRPr lang="en-AU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CB46F4-1548-40DE-A9D1-0A9568AFEED0}"/>
              </a:ext>
            </a:extLst>
          </p:cNvPr>
          <p:cNvSpPr txBox="1"/>
          <p:nvPr/>
        </p:nvSpPr>
        <p:spPr>
          <a:xfrm>
            <a:off x="9171107" y="17172702"/>
            <a:ext cx="4126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Antibody</a:t>
            </a:r>
            <a:endParaRPr lang="en-AU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979A06-A2CD-4214-AEA1-4D217C187F40}"/>
              </a:ext>
            </a:extLst>
          </p:cNvPr>
          <p:cNvSpPr txBox="1"/>
          <p:nvPr/>
        </p:nvSpPr>
        <p:spPr>
          <a:xfrm>
            <a:off x="9132820" y="25652364"/>
            <a:ext cx="4126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Pathogen</a:t>
            </a:r>
            <a:endParaRPr lang="en-AU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5EFE9A-95C5-4250-85BB-2DCA96FF92BB}"/>
              </a:ext>
            </a:extLst>
          </p:cNvPr>
          <p:cNvSpPr txBox="1"/>
          <p:nvPr/>
        </p:nvSpPr>
        <p:spPr>
          <a:xfrm>
            <a:off x="20337428" y="999486"/>
            <a:ext cx="73420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Reporter Probe</a:t>
            </a:r>
            <a:endParaRPr lang="en-AU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292BF4-0B89-45E1-AC71-F6D35E079953}"/>
              </a:ext>
            </a:extLst>
          </p:cNvPr>
          <p:cNvSpPr txBox="1"/>
          <p:nvPr/>
        </p:nvSpPr>
        <p:spPr>
          <a:xfrm>
            <a:off x="21444718" y="8171341"/>
            <a:ext cx="3909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Capture</a:t>
            </a:r>
            <a:endParaRPr lang="en-AU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C5D9338-ABBC-4629-BA70-C87246FFFA05}"/>
              </a:ext>
            </a:extLst>
          </p:cNvPr>
          <p:cNvSpPr/>
          <p:nvPr/>
        </p:nvSpPr>
        <p:spPr>
          <a:xfrm>
            <a:off x="14532252" y="23101562"/>
            <a:ext cx="1014984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FC306A-BFC0-4F3B-83E3-9023B0A56C4D}"/>
              </a:ext>
            </a:extLst>
          </p:cNvPr>
          <p:cNvSpPr txBox="1"/>
          <p:nvPr/>
        </p:nvSpPr>
        <p:spPr>
          <a:xfrm>
            <a:off x="17370303" y="21816960"/>
            <a:ext cx="43550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latin typeface="Arial" panose="020B0604020202020204" pitchFamily="34" charset="0"/>
                <a:cs typeface="Arial" panose="020B0604020202020204" pitchFamily="34" charset="0"/>
              </a:rPr>
              <a:t>Readouts</a:t>
            </a:r>
            <a:endParaRPr lang="en-AU" sz="7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1E06F451-77AA-44D1-8A05-12D9443B9AC0}"/>
              </a:ext>
            </a:extLst>
          </p:cNvPr>
          <p:cNvSpPr/>
          <p:nvPr/>
        </p:nvSpPr>
        <p:spPr>
          <a:xfrm>
            <a:off x="18610067" y="19863322"/>
            <a:ext cx="1773602" cy="1685633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573AA73B-C646-41BB-B6A6-114D7A20B66F}"/>
              </a:ext>
            </a:extLst>
          </p:cNvPr>
          <p:cNvSpPr/>
          <p:nvPr/>
        </p:nvSpPr>
        <p:spPr>
          <a:xfrm>
            <a:off x="18610067" y="8066295"/>
            <a:ext cx="1773602" cy="1685633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77970E7D-299D-44F1-A9F3-4217FD3D5A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32252" y="23757938"/>
            <a:ext cx="4920333" cy="476936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14DAB3A-5309-49A0-9D3D-71305CCA43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42525" y="23617454"/>
            <a:ext cx="4915629" cy="4909853"/>
          </a:xfrm>
          <a:prstGeom prst="rect">
            <a:avLst/>
          </a:prstGeom>
        </p:spPr>
      </p:pic>
      <p:pic>
        <p:nvPicPr>
          <p:cNvPr id="46" name="Picture 45" descr="Logo&#10;&#10;Description automatically generated with medium confidence">
            <a:extLst>
              <a:ext uri="{FF2B5EF4-FFF2-40B4-BE49-F238E27FC236}">
                <a16:creationId xmlns:a16="http://schemas.microsoft.com/office/drawing/2014/main" id="{8001FD65-7FB7-4BEC-B36D-997A0F60900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2024" y="28926914"/>
            <a:ext cx="8013697" cy="8013697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23814DE-79CE-4574-A04B-EDC8D9AA33D0}"/>
              </a:ext>
            </a:extLst>
          </p:cNvPr>
          <p:cNvSpPr txBox="1"/>
          <p:nvPr/>
        </p:nvSpPr>
        <p:spPr>
          <a:xfrm>
            <a:off x="13776088" y="23217847"/>
            <a:ext cx="1007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48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AU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C597AA-E79B-4A92-88DD-C3D9E0AD283D}"/>
              </a:ext>
            </a:extLst>
          </p:cNvPr>
          <p:cNvSpPr txBox="1"/>
          <p:nvPr/>
        </p:nvSpPr>
        <p:spPr>
          <a:xfrm>
            <a:off x="19113241" y="23217847"/>
            <a:ext cx="1007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(ii)</a:t>
            </a:r>
            <a:endParaRPr lang="en-AU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AB4A97B-DA57-48EB-ABEB-328A121FAE60}"/>
              </a:ext>
            </a:extLst>
          </p:cNvPr>
          <p:cNvSpPr txBox="1"/>
          <p:nvPr/>
        </p:nvSpPr>
        <p:spPr>
          <a:xfrm>
            <a:off x="16143946" y="28951758"/>
            <a:ext cx="1007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(iii)</a:t>
            </a:r>
            <a:endParaRPr lang="en-AU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A5C9AD9-ED01-4F93-A17A-020F6B40CA79}"/>
              </a:ext>
            </a:extLst>
          </p:cNvPr>
          <p:cNvCxnSpPr>
            <a:cxnSpLocks/>
          </p:cNvCxnSpPr>
          <p:nvPr/>
        </p:nvCxnSpPr>
        <p:spPr>
          <a:xfrm rot="2700000">
            <a:off x="8738769" y="1985558"/>
            <a:ext cx="0" cy="1463040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4116E68-7DF5-4AEE-9206-CDF211FD3D9C}"/>
              </a:ext>
            </a:extLst>
          </p:cNvPr>
          <p:cNvCxnSpPr>
            <a:cxnSpLocks/>
          </p:cNvCxnSpPr>
          <p:nvPr/>
        </p:nvCxnSpPr>
        <p:spPr>
          <a:xfrm rot="19800000">
            <a:off x="24008472" y="2113073"/>
            <a:ext cx="0" cy="1463040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45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17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Strachan</dc:creator>
  <cp:lastModifiedBy>Simon Strachan</cp:lastModifiedBy>
  <cp:revision>2</cp:revision>
  <dcterms:created xsi:type="dcterms:W3CDTF">2021-11-30T04:40:06Z</dcterms:created>
  <dcterms:modified xsi:type="dcterms:W3CDTF">2021-11-30T06:08:04Z</dcterms:modified>
</cp:coreProperties>
</file>